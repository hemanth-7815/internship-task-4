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y="10287000" cx="18288000"/>
  <p:notesSz cx="6858000" cy="9144000"/>
  <p:custDataLst>
    <p:tags r:id="rId9"/>
  </p:custDataLst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"/>
          <p:cNvGrpSpPr/>
          <p:nvPr/>
        </p:nvGrpSpPr>
        <p:grpSpPr>
          <a:xfrm>
            <a:off x="0" y="-144662"/>
            <a:ext cx="2415967" cy="10431728"/>
            <a:chOff x="0" y="-38100"/>
            <a:chExt cx="636300" cy="2747433"/>
          </a:xfrm>
        </p:grpSpPr>
        <p:sp>
          <p:nvSpPr>
            <p:cNvPr id="54" name="Google Shape;54;p1"/>
            <p:cNvSpPr/>
            <p:nvPr/>
          </p:nvSpPr>
          <p:spPr>
            <a:xfrm>
              <a:off x="0" y="0"/>
              <a:ext cx="636282" cy="2709333"/>
            </a:xfrm>
            <a:custGeom>
              <a:rect b="b" l="l" r="r" t="t"/>
              <a:pathLst>
                <a:path extrusionOk="0" h="2709333" w="636282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293E9C"/>
                </a:gs>
                <a:gs pos="100000">
                  <a:srgbClr val="3A58E4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</p:sp>
        <p:sp>
          <p:nvSpPr>
            <p:cNvPr id="55" name="Google Shape;55;p1"/>
            <p:cNvSpPr txBox="1"/>
            <p:nvPr/>
          </p:nvSpPr>
          <p:spPr>
            <a:xfrm>
              <a:off x="0" y="-38100"/>
              <a:ext cx="6363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1"/>
          <p:cNvSpPr/>
          <p:nvPr/>
        </p:nvSpPr>
        <p:spPr>
          <a:xfrm>
            <a:off x="839956" y="1028700"/>
            <a:ext cx="735971" cy="710546"/>
          </a:xfrm>
          <a:custGeom>
            <a:rect b="b" l="l" r="r" t="t"/>
            <a:pathLst>
              <a:path extrusionOk="0" h="710546" w="735971">
                <a:moveTo>
                  <a:pt x="0" y="0"/>
                </a:moveTo>
                <a:lnTo>
                  <a:pt x="735970" y="0"/>
                </a:lnTo>
                <a:lnTo>
                  <a:pt x="735970" y="710546"/>
                </a:lnTo>
                <a:lnTo>
                  <a:pt x="0" y="710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" name="Google Shape;57;p1"/>
          <p:cNvGrpSpPr/>
          <p:nvPr/>
        </p:nvGrpSpPr>
        <p:grpSpPr>
          <a:xfrm>
            <a:off x="3320099" y="7365824"/>
            <a:ext cx="2772513" cy="1605481"/>
            <a:chOff x="0" y="47625"/>
            <a:chExt cx="3696684" cy="2140641"/>
          </a:xfrm>
        </p:grpSpPr>
        <p:grpSp>
          <p:nvGrpSpPr>
            <p:cNvPr id="58" name="Google Shape;58;p1"/>
            <p:cNvGrpSpPr/>
            <p:nvPr/>
          </p:nvGrpSpPr>
          <p:grpSpPr>
            <a:xfrm>
              <a:off x="0" y="385418"/>
              <a:ext cx="134600" cy="134600"/>
              <a:chOff x="0" y="0"/>
              <a:chExt cx="812800" cy="812800"/>
            </a:xfrm>
          </p:grpSpPr>
          <p:sp>
            <p:nvSpPr>
              <p:cNvPr id="59" name="Google Shape;59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3E9C"/>
                  </a:gs>
                  <a:gs pos="100000">
                    <a:srgbClr val="3A58E4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"/>
              <p:cNvSpPr txBox="1"/>
              <p:nvPr/>
            </p:nvSpPr>
            <p:spPr>
              <a:xfrm>
                <a:off x="76200" y="104775"/>
                <a:ext cx="660300" cy="6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7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" name="Google Shape;61;p1"/>
            <p:cNvSpPr txBox="1"/>
            <p:nvPr/>
          </p:nvSpPr>
          <p:spPr>
            <a:xfrm>
              <a:off x="506484" y="47625"/>
              <a:ext cx="27492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69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49" u="none" cap="none" strike="noStrike">
                  <a:solidFill>
                    <a:srgbClr val="293E9C"/>
                  </a:solidFill>
                  <a:latin typeface="Poppins"/>
                  <a:ea typeface="Poppins"/>
                  <a:cs typeface="Poppins"/>
                  <a:sym typeface="Poppins"/>
                </a:rPr>
                <a:t>PRESENTED BY</a:t>
              </a:r>
              <a:endParaRPr/>
            </a:p>
          </p:txBody>
        </p:sp>
        <p:sp>
          <p:nvSpPr>
            <p:cNvPr id="62" name="Google Shape;62;p1"/>
            <p:cNvSpPr txBox="1"/>
            <p:nvPr/>
          </p:nvSpPr>
          <p:spPr>
            <a:xfrm>
              <a:off x="506484" y="536670"/>
              <a:ext cx="3190200" cy="6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69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49" u="none" cap="none" strike="noStrike">
                  <a:solidFill>
                    <a:srgbClr val="293E9C"/>
                  </a:solidFill>
                  <a:latin typeface="Poppins"/>
                  <a:ea typeface="Poppins"/>
                  <a:cs typeface="Poppins"/>
                  <a:sym typeface="Poppins"/>
                </a:rPr>
                <a:t>Somisetti Hemanth Kumar </a:t>
              </a:r>
              <a:endParaRPr/>
            </a:p>
          </p:txBody>
        </p:sp>
        <p:sp>
          <p:nvSpPr>
            <p:cNvPr id="63" name="Google Shape;63;p1"/>
            <p:cNvSpPr txBox="1"/>
            <p:nvPr/>
          </p:nvSpPr>
          <p:spPr>
            <a:xfrm>
              <a:off x="506484" y="1323462"/>
              <a:ext cx="27492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69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49" u="none" cap="none" strike="noStrike">
                  <a:solidFill>
                    <a:srgbClr val="293E9C"/>
                  </a:solidFill>
                  <a:latin typeface="Poppins"/>
                  <a:ea typeface="Poppins"/>
                  <a:cs typeface="Poppins"/>
                  <a:sym typeface="Poppins"/>
                </a:rPr>
                <a:t>TASK</a:t>
              </a:r>
              <a:endParaRPr/>
            </a:p>
          </p:txBody>
        </p:sp>
        <p:sp>
          <p:nvSpPr>
            <p:cNvPr id="64" name="Google Shape;64;p1"/>
            <p:cNvSpPr txBox="1"/>
            <p:nvPr/>
          </p:nvSpPr>
          <p:spPr>
            <a:xfrm>
              <a:off x="506484" y="1806966"/>
              <a:ext cx="31902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69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49" u="none" cap="none" strike="noStrike">
                  <a:solidFill>
                    <a:srgbClr val="293E9C"/>
                  </a:solidFill>
                  <a:latin typeface="Poppins"/>
                  <a:ea typeface="Poppins"/>
                  <a:cs typeface="Poppins"/>
                  <a:sym typeface="Poppins"/>
                </a:rPr>
                <a:t>Internship Task 4</a:t>
              </a:r>
              <a:endParaRPr/>
            </a:p>
          </p:txBody>
        </p:sp>
        <p:grpSp>
          <p:nvGrpSpPr>
            <p:cNvPr id="65" name="Google Shape;65;p1"/>
            <p:cNvGrpSpPr/>
            <p:nvPr/>
          </p:nvGrpSpPr>
          <p:grpSpPr>
            <a:xfrm>
              <a:off x="0" y="1661082"/>
              <a:ext cx="134600" cy="134600"/>
              <a:chOff x="0" y="0"/>
              <a:chExt cx="812800" cy="812800"/>
            </a:xfrm>
          </p:grpSpPr>
          <p:sp>
            <p:nvSpPr>
              <p:cNvPr id="66" name="Google Shape;66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3E9C"/>
                  </a:gs>
                  <a:gs pos="100000">
                    <a:srgbClr val="3A58E4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"/>
              <p:cNvSpPr txBox="1"/>
              <p:nvPr/>
            </p:nvSpPr>
            <p:spPr>
              <a:xfrm>
                <a:off x="76200" y="104775"/>
                <a:ext cx="660300" cy="6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7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" name="Google Shape;68;p1"/>
          <p:cNvSpPr txBox="1"/>
          <p:nvPr/>
        </p:nvSpPr>
        <p:spPr>
          <a:xfrm>
            <a:off x="3320100" y="1028700"/>
            <a:ext cx="76140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83" u="none" cap="none" strike="noStrike">
                <a:solidFill>
                  <a:srgbClr val="293E9C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/>
          </a:p>
          <a:p>
            <a:pPr indent="0" lvl="0" marL="0" marR="0" rtl="0" algn="l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83" u="none" cap="none" strike="noStrike">
                <a:solidFill>
                  <a:srgbClr val="293E9C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  <a:p>
            <a:pPr indent="0" lvl="0" marL="0" marR="0" rtl="0" algn="l">
              <a:lnSpc>
                <a:spcPct val="9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83" u="none" cap="none" strike="noStrike">
                <a:solidFill>
                  <a:srgbClr val="293E9C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69" name="Google Shape;69;p1"/>
          <p:cNvSpPr txBox="1"/>
          <p:nvPr/>
        </p:nvSpPr>
        <p:spPr>
          <a:xfrm>
            <a:off x="3320099" y="5923409"/>
            <a:ext cx="56967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8" u="none" cap="none" strike="noStrike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Dashboard Design using Power BI — Data Analyst Internship Task 4</a:t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350972" y="1968832"/>
            <a:ext cx="17043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Sales</a:t>
            </a:r>
            <a:endParaRPr/>
          </a:p>
        </p:txBody>
      </p:sp>
      <p:sp>
        <p:nvSpPr>
          <p:cNvPr id="71" name="Google Shape;71;p1"/>
          <p:cNvSpPr txBox="1"/>
          <p:nvPr/>
        </p:nvSpPr>
        <p:spPr>
          <a:xfrm>
            <a:off x="360740" y="2310991"/>
            <a:ext cx="17043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6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34075" y="2310991"/>
            <a:ext cx="6837035" cy="6426813"/>
          </a:xfrm>
          <a:custGeom>
            <a:rect b="b" l="l" r="r" t="t"/>
            <a:pathLst>
              <a:path extrusionOk="0" h="6426813" w="6837035">
                <a:moveTo>
                  <a:pt x="0" y="0"/>
                </a:moveTo>
                <a:lnTo>
                  <a:pt x="6837034" y="0"/>
                </a:lnTo>
                <a:lnTo>
                  <a:pt x="6837034" y="6426812"/>
                </a:lnTo>
                <a:lnTo>
                  <a:pt x="0" y="6426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"/>
          <p:cNvGrpSpPr/>
          <p:nvPr/>
        </p:nvGrpSpPr>
        <p:grpSpPr>
          <a:xfrm>
            <a:off x="16438046" y="109960"/>
            <a:ext cx="1849933" cy="1738439"/>
            <a:chOff x="0" y="-119325"/>
            <a:chExt cx="2466578" cy="2317919"/>
          </a:xfrm>
        </p:grpSpPr>
        <p:grpSp>
          <p:nvGrpSpPr>
            <p:cNvPr id="75" name="Google Shape;75;p2"/>
            <p:cNvGrpSpPr/>
            <p:nvPr/>
          </p:nvGrpSpPr>
          <p:grpSpPr>
            <a:xfrm>
              <a:off x="0" y="-119325"/>
              <a:ext cx="2466578" cy="2317919"/>
              <a:chOff x="0" y="-38100"/>
              <a:chExt cx="787566" cy="740100"/>
            </a:xfrm>
          </p:grpSpPr>
          <p:sp>
            <p:nvSpPr>
              <p:cNvPr id="76" name="Google Shape;76;p2"/>
              <p:cNvSpPr/>
              <p:nvPr/>
            </p:nvSpPr>
            <p:spPr>
              <a:xfrm>
                <a:off x="0" y="0"/>
                <a:ext cx="787566" cy="701893"/>
              </a:xfrm>
              <a:custGeom>
                <a:rect b="b" l="l" r="r" t="t"/>
                <a:pathLst>
                  <a:path extrusionOk="0" h="701893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01893"/>
                    </a:lnTo>
                    <a:lnTo>
                      <a:pt x="0" y="701893"/>
                    </a:lnTo>
                    <a:close/>
                  </a:path>
                </a:pathLst>
              </a:custGeom>
              <a:gradFill>
                <a:gsLst>
                  <a:gs pos="0">
                    <a:srgbClr val="3A58E4"/>
                  </a:gs>
                  <a:gs pos="100000">
                    <a:srgbClr val="293E9C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</p:sp>
          <p:sp>
            <p:nvSpPr>
              <p:cNvPr id="77" name="Google Shape;77;p2"/>
              <p:cNvSpPr txBox="1"/>
              <p:nvPr/>
            </p:nvSpPr>
            <p:spPr>
              <a:xfrm>
                <a:off x="0" y="-38100"/>
                <a:ext cx="787500" cy="7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" name="Google Shape;78;p2"/>
            <p:cNvSpPr txBox="1"/>
            <p:nvPr/>
          </p:nvSpPr>
          <p:spPr>
            <a:xfrm>
              <a:off x="319164" y="674999"/>
              <a:ext cx="18282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8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21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</p:grpSp>
      <p:grpSp>
        <p:nvGrpSpPr>
          <p:cNvPr id="79" name="Google Shape;79;p2"/>
          <p:cNvGrpSpPr/>
          <p:nvPr/>
        </p:nvGrpSpPr>
        <p:grpSpPr>
          <a:xfrm>
            <a:off x="5545788" y="3062450"/>
            <a:ext cx="7196621" cy="379436"/>
            <a:chOff x="0" y="-369"/>
            <a:chExt cx="9595495" cy="505914"/>
          </a:xfrm>
        </p:grpSpPr>
        <p:sp>
          <p:nvSpPr>
            <p:cNvPr id="80" name="Google Shape;80;p2"/>
            <p:cNvSpPr txBox="1"/>
            <p:nvPr/>
          </p:nvSpPr>
          <p:spPr>
            <a:xfrm>
              <a:off x="0" y="67845"/>
              <a:ext cx="93789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SALES PERFORMANCE DASHBOARD — KEY METRICS SUMMARY</a:t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rot="-8685706">
              <a:off x="9278166" y="44497"/>
              <a:ext cx="252428" cy="305134"/>
            </a:xfrm>
            <a:custGeom>
              <a:rect b="b" l="l" r="r" t="t"/>
              <a:pathLst>
                <a:path extrusionOk="0"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82" name="Google Shape;82;p2"/>
          <p:cNvGrpSpPr/>
          <p:nvPr/>
        </p:nvGrpSpPr>
        <p:grpSpPr>
          <a:xfrm>
            <a:off x="1463921" y="4926041"/>
            <a:ext cx="3746683" cy="3746683"/>
            <a:chOff x="0" y="0"/>
            <a:chExt cx="812800" cy="812800"/>
          </a:xfrm>
        </p:grpSpPr>
        <p:sp>
          <p:nvSpPr>
            <p:cNvPr id="83" name="Google Shape;83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293E9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100" lIns="40100" spcFirstLastPara="1" rIns="40100" wrap="square" tIns="401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85;p2"/>
          <p:cNvGrpSpPr/>
          <p:nvPr/>
        </p:nvGrpSpPr>
        <p:grpSpPr>
          <a:xfrm>
            <a:off x="5334452" y="4926041"/>
            <a:ext cx="3746683" cy="3746683"/>
            <a:chOff x="0" y="0"/>
            <a:chExt cx="812800" cy="812800"/>
          </a:xfrm>
        </p:grpSpPr>
        <p:sp>
          <p:nvSpPr>
            <p:cNvPr id="86" name="Google Shape;86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A58E4"/>
                </a:gs>
                <a:gs pos="100000">
                  <a:srgbClr val="293E9C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100" lIns="40100" spcFirstLastPara="1" rIns="40100" wrap="square" tIns="401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9205912" y="4926041"/>
            <a:ext cx="3746683" cy="3746683"/>
            <a:chOff x="0" y="0"/>
            <a:chExt cx="812800" cy="812800"/>
          </a:xfrm>
        </p:grpSpPr>
        <p:sp>
          <p:nvSpPr>
            <p:cNvPr id="89" name="Google Shape;89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293E9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100" lIns="40100" spcFirstLastPara="1" rIns="40100" wrap="square" tIns="401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2"/>
          <p:cNvGrpSpPr/>
          <p:nvPr/>
        </p:nvGrpSpPr>
        <p:grpSpPr>
          <a:xfrm>
            <a:off x="13077373" y="4926041"/>
            <a:ext cx="3746683" cy="3746683"/>
            <a:chOff x="0" y="0"/>
            <a:chExt cx="812800" cy="81280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293E9C"/>
                </a:gs>
                <a:gs pos="100000">
                  <a:srgbClr val="3A58E4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100" lIns="40100" spcFirstLastPara="1" rIns="40100" wrap="square" tIns="401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2"/>
          <p:cNvSpPr txBox="1"/>
          <p:nvPr/>
        </p:nvSpPr>
        <p:spPr>
          <a:xfrm>
            <a:off x="2345222" y="6253142"/>
            <a:ext cx="1984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6" u="none" cap="none" strike="noStrike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SALES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2124549" y="6826302"/>
            <a:ext cx="24255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1" u="none" cap="none" strike="noStrike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2.88M total revenue generated across all regions and categories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6215753" y="6253142"/>
            <a:ext cx="1984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PROFIT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995080" y="6826302"/>
            <a:ext cx="24255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756K net profit achieved after deducting all operational costs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9901910" y="6253142"/>
            <a:ext cx="23547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6" u="none" cap="none" strike="noStrike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TOTAL ORDERS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9866540" y="6826302"/>
            <a:ext cx="24255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1" u="none" cap="none" strike="noStrike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547 orders processed with interactive category filters applied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3958674" y="6253142"/>
            <a:ext cx="1984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PROFIT %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3738001" y="6826302"/>
            <a:ext cx="24255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26.2% overall profit percentage across all sales segments</a:t>
            </a:r>
            <a:endParaRPr/>
          </a:p>
        </p:txBody>
      </p:sp>
      <p:grpSp>
        <p:nvGrpSpPr>
          <p:cNvPr id="102" name="Google Shape;102;p2"/>
          <p:cNvGrpSpPr/>
          <p:nvPr/>
        </p:nvGrpSpPr>
        <p:grpSpPr>
          <a:xfrm>
            <a:off x="4176506" y="4926023"/>
            <a:ext cx="747004" cy="747021"/>
            <a:chOff x="0" y="0"/>
            <a:chExt cx="996005" cy="996028"/>
          </a:xfrm>
        </p:grpSpPr>
        <p:grpSp>
          <p:nvGrpSpPr>
            <p:cNvPr id="103" name="Google Shape;103;p2"/>
            <p:cNvGrpSpPr/>
            <p:nvPr/>
          </p:nvGrpSpPr>
          <p:grpSpPr>
            <a:xfrm>
              <a:off x="0" y="0"/>
              <a:ext cx="996005" cy="996028"/>
              <a:chOff x="0" y="0"/>
              <a:chExt cx="812800" cy="812819"/>
            </a:xfrm>
          </p:grpSpPr>
          <p:sp>
            <p:nvSpPr>
              <p:cNvPr id="104" name="Google Shape;104;p2"/>
              <p:cNvSpPr/>
              <p:nvPr/>
            </p:nvSpPr>
            <p:spPr>
              <a:xfrm>
                <a:off x="0" y="0"/>
                <a:ext cx="812800" cy="812819"/>
              </a:xfrm>
              <a:custGeom>
                <a:rect b="b" l="l" r="r" t="t"/>
                <a:pathLst>
                  <a:path extrusionOk="0"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3E9C"/>
                  </a:gs>
                  <a:gs pos="100000">
                    <a:srgbClr val="3A58E4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 txBox="1"/>
              <p:nvPr/>
            </p:nvSpPr>
            <p:spPr>
              <a:xfrm>
                <a:off x="76200" y="38102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" name="Google Shape;106;p2"/>
            <p:cNvSpPr txBox="1"/>
            <p:nvPr/>
          </p:nvSpPr>
          <p:spPr>
            <a:xfrm>
              <a:off x="175623" y="235561"/>
              <a:ext cx="644700" cy="48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8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25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8047037" y="4926023"/>
            <a:ext cx="747004" cy="747021"/>
            <a:chOff x="0" y="0"/>
            <a:chExt cx="996005" cy="996028"/>
          </a:xfrm>
        </p:grpSpPr>
        <p:grpSp>
          <p:nvGrpSpPr>
            <p:cNvPr id="108" name="Google Shape;108;p2"/>
            <p:cNvGrpSpPr/>
            <p:nvPr/>
          </p:nvGrpSpPr>
          <p:grpSpPr>
            <a:xfrm>
              <a:off x="0" y="0"/>
              <a:ext cx="996005" cy="996028"/>
              <a:chOff x="0" y="0"/>
              <a:chExt cx="812800" cy="812819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0" y="0"/>
                <a:ext cx="812800" cy="812819"/>
              </a:xfrm>
              <a:custGeom>
                <a:rect b="b" l="l" r="r" t="t"/>
                <a:pathLst>
                  <a:path extrusionOk="0"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 cmpd="sng" w="47625">
                <a:solidFill>
                  <a:srgbClr val="293E9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 txBox="1"/>
              <p:nvPr/>
            </p:nvSpPr>
            <p:spPr>
              <a:xfrm>
                <a:off x="76200" y="38102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" name="Google Shape;111;p2"/>
            <p:cNvSpPr txBox="1"/>
            <p:nvPr/>
          </p:nvSpPr>
          <p:spPr>
            <a:xfrm>
              <a:off x="175623" y="235561"/>
              <a:ext cx="644700" cy="48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8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25" u="none" cap="none" strike="noStrike">
                  <a:solidFill>
                    <a:srgbClr val="293E9C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/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11919608" y="4926023"/>
            <a:ext cx="747004" cy="747021"/>
            <a:chOff x="0" y="0"/>
            <a:chExt cx="996005" cy="996028"/>
          </a:xfrm>
        </p:grpSpPr>
        <p:grpSp>
          <p:nvGrpSpPr>
            <p:cNvPr id="113" name="Google Shape;113;p2"/>
            <p:cNvGrpSpPr/>
            <p:nvPr/>
          </p:nvGrpSpPr>
          <p:grpSpPr>
            <a:xfrm>
              <a:off x="0" y="0"/>
              <a:ext cx="996005" cy="996028"/>
              <a:chOff x="0" y="0"/>
              <a:chExt cx="812800" cy="812819"/>
            </a:xfrm>
          </p:grpSpPr>
          <p:sp>
            <p:nvSpPr>
              <p:cNvPr id="114" name="Google Shape;114;p2"/>
              <p:cNvSpPr/>
              <p:nvPr/>
            </p:nvSpPr>
            <p:spPr>
              <a:xfrm>
                <a:off x="0" y="0"/>
                <a:ext cx="812800" cy="812819"/>
              </a:xfrm>
              <a:custGeom>
                <a:rect b="b" l="l" r="r" t="t"/>
                <a:pathLst>
                  <a:path extrusionOk="0"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3E9C"/>
                  </a:gs>
                  <a:gs pos="100000">
                    <a:srgbClr val="3A58E4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2"/>
              <p:cNvSpPr txBox="1"/>
              <p:nvPr/>
            </p:nvSpPr>
            <p:spPr>
              <a:xfrm>
                <a:off x="76200" y="38102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" name="Google Shape;116;p2"/>
            <p:cNvSpPr txBox="1"/>
            <p:nvPr/>
          </p:nvSpPr>
          <p:spPr>
            <a:xfrm>
              <a:off x="175623" y="235561"/>
              <a:ext cx="644700" cy="48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8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25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5791068" y="4926023"/>
            <a:ext cx="747004" cy="747021"/>
            <a:chOff x="0" y="0"/>
            <a:chExt cx="996005" cy="996028"/>
          </a:xfrm>
        </p:grpSpPr>
        <p:grpSp>
          <p:nvGrpSpPr>
            <p:cNvPr id="118" name="Google Shape;118;p2"/>
            <p:cNvGrpSpPr/>
            <p:nvPr/>
          </p:nvGrpSpPr>
          <p:grpSpPr>
            <a:xfrm>
              <a:off x="0" y="0"/>
              <a:ext cx="996005" cy="996028"/>
              <a:chOff x="0" y="0"/>
              <a:chExt cx="812800" cy="812819"/>
            </a:xfrm>
          </p:grpSpPr>
          <p:sp>
            <p:nvSpPr>
              <p:cNvPr id="119" name="Google Shape;119;p2"/>
              <p:cNvSpPr/>
              <p:nvPr/>
            </p:nvSpPr>
            <p:spPr>
              <a:xfrm>
                <a:off x="0" y="0"/>
                <a:ext cx="812800" cy="812819"/>
              </a:xfrm>
              <a:custGeom>
                <a:rect b="b" l="l" r="r" t="t"/>
                <a:pathLst>
                  <a:path extrusionOk="0" h="812819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 cmpd="sng" w="47625">
                <a:solidFill>
                  <a:srgbClr val="293E9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2"/>
              <p:cNvSpPr txBox="1"/>
              <p:nvPr/>
            </p:nvSpPr>
            <p:spPr>
              <a:xfrm>
                <a:off x="76200" y="38102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" name="Google Shape;121;p2"/>
            <p:cNvSpPr txBox="1"/>
            <p:nvPr/>
          </p:nvSpPr>
          <p:spPr>
            <a:xfrm>
              <a:off x="175623" y="235561"/>
              <a:ext cx="644700" cy="48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8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25" u="none" cap="none" strike="noStrike">
                  <a:solidFill>
                    <a:srgbClr val="293E9C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/>
            </a:p>
          </p:txBody>
        </p:sp>
      </p:grpSp>
      <p:sp>
        <p:nvSpPr>
          <p:cNvPr id="122" name="Google Shape;122;p2"/>
          <p:cNvSpPr txBox="1"/>
          <p:nvPr/>
        </p:nvSpPr>
        <p:spPr>
          <a:xfrm>
            <a:off x="1463925" y="1531375"/>
            <a:ext cx="149742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92" u="none" cap="none" strike="noStrike">
                <a:solidFill>
                  <a:srgbClr val="293E9C"/>
                </a:solidFill>
                <a:latin typeface="Arial"/>
                <a:ea typeface="Arial"/>
                <a:cs typeface="Arial"/>
                <a:sym typeface="Arial"/>
              </a:rPr>
              <a:t>Dashboard Overview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6766" y="1368316"/>
            <a:ext cx="5217559" cy="235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43"/>
              </a:lnSpc>
            </a:pPr>
            <a:r>
              <a:rPr lang="en-US" sz="9228" spc="-59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Key</a:t>
            </a:r>
          </a:p>
          <a:p>
            <a:pPr algn="l" marL="0" indent="0" lvl="0">
              <a:lnSpc>
                <a:spcPts val="9043"/>
              </a:lnSpc>
            </a:pPr>
            <a:r>
              <a:rPr lang="en-US" sz="9228" spc="-59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358088"/>
            <a:ext cx="47625" cy="2040668"/>
            <a:chOff x="0" y="0"/>
            <a:chExt cx="12543" cy="537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312874"/>
            <a:ext cx="8172450" cy="379246"/>
            <a:chOff x="0" y="0"/>
            <a:chExt cx="10896600" cy="5056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115"/>
              <a:ext cx="10820400" cy="511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5"/>
                </a:lnSpc>
              </a:pPr>
              <a:r>
                <a:rPr lang="en-US" b="true" sz="2232" spc="-55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KEY FINDINGS FROM THE SALES PERFORMANCE DASHBOARD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38046" y="58302"/>
            <a:ext cx="1849954" cy="1789864"/>
            <a:chOff x="0" y="0"/>
            <a:chExt cx="2466605" cy="238648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466605" cy="2386485"/>
              <a:chOff x="0" y="0"/>
              <a:chExt cx="787566" cy="76198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761984"/>
              </a:xfrm>
              <a:custGeom>
                <a:avLst/>
                <a:gdLst/>
                <a:ahLst/>
                <a:cxnLst/>
                <a:rect r="r" b="b" t="t" l="l"/>
                <a:pathLst>
                  <a:path h="761984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61984"/>
                    </a:lnTo>
                    <a:lnTo>
                      <a:pt x="0" y="7619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8000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9164" y="694049"/>
              <a:ext cx="1828278" cy="112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51"/>
                </a:lnSpc>
              </a:pPr>
              <a:r>
                <a:rPr lang="en-US" sz="6174" spc="-39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717333" y="2553628"/>
            <a:ext cx="6837035" cy="6426813"/>
          </a:xfrm>
          <a:custGeom>
            <a:avLst/>
            <a:gdLst/>
            <a:ahLst/>
            <a:cxnLst/>
            <a:rect r="r" b="b" t="t" l="l"/>
            <a:pathLst>
              <a:path h="6426813" w="6837035">
                <a:moveTo>
                  <a:pt x="0" y="0"/>
                </a:moveTo>
                <a:lnTo>
                  <a:pt x="6837034" y="0"/>
                </a:lnTo>
                <a:lnTo>
                  <a:pt x="6837034" y="6426812"/>
                </a:lnTo>
                <a:lnTo>
                  <a:pt x="0" y="6426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70201" y="5263781"/>
            <a:ext cx="7273799" cy="75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89"/>
              </a:lnSpc>
            </a:pPr>
            <a:r>
              <a:rPr lang="en-US" sz="2135" spc="-53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Office Supplies recorded the highest sales across all product categories.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0201" y="6255073"/>
            <a:ext cx="7273799" cy="75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89"/>
              </a:lnSpc>
            </a:pPr>
            <a:r>
              <a:rPr lang="en-US" sz="2135" spc="-53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New York generated the highest profit among all regions and cities.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0201" y="7246364"/>
            <a:ext cx="7273799" cy="75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89"/>
              </a:lnSpc>
            </a:pPr>
            <a:r>
              <a:rPr lang="en-US" sz="2135" spc="-53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Sales peaked in December, indicating strong year-end performance trends.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0201" y="8237656"/>
            <a:ext cx="7273799" cy="75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89"/>
              </a:lnSpc>
            </a:pPr>
            <a:r>
              <a:rPr lang="en-US" sz="2135" spc="-53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September recorded the lowest sales, highlighting a mid-year slowdown.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52512" y="5400430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52512" y="6391722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52512" y="7383013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2512" y="8376909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1386" y="0"/>
            <a:ext cx="4646614" cy="10287000"/>
            <a:chOff x="0" y="0"/>
            <a:chExt cx="1223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3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23800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02839" y="1172167"/>
            <a:ext cx="1723707" cy="7772171"/>
            <a:chOff x="0" y="0"/>
            <a:chExt cx="2298277" cy="103628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51979" y="0"/>
              <a:ext cx="981294" cy="947395"/>
            </a:xfrm>
            <a:custGeom>
              <a:avLst/>
              <a:gdLst/>
              <a:ahLst/>
              <a:cxnLst/>
              <a:rect r="r" b="b" t="t" l="l"/>
              <a:pathLst>
                <a:path h="947395" w="981294">
                  <a:moveTo>
                    <a:pt x="0" y="0"/>
                  </a:moveTo>
                  <a:lnTo>
                    <a:pt x="981294" y="0"/>
                  </a:lnTo>
                  <a:lnTo>
                    <a:pt x="981294" y="947395"/>
                  </a:lnTo>
                  <a:lnTo>
                    <a:pt x="0" y="947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253510"/>
              <a:ext cx="2272228" cy="399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27"/>
                </a:lnSpc>
              </a:pPr>
              <a:r>
                <a:rPr lang="en-US" b="true" sz="198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024" y="1652889"/>
              <a:ext cx="2272228" cy="399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27"/>
                </a:lnSpc>
              </a:pPr>
              <a:r>
                <a:rPr lang="en-US" sz="198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Dashboard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024" y="9564135"/>
              <a:ext cx="2272228" cy="399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27"/>
                </a:lnSpc>
              </a:pPr>
              <a:r>
                <a:rPr lang="en-US" b="true" sz="198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Slide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6049" y="9963515"/>
              <a:ext cx="2272228" cy="399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27"/>
                </a:lnSpc>
              </a:pPr>
              <a:r>
                <a:rPr lang="en-US" sz="198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04 / 04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7308293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7988737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8673002"/>
            <a:ext cx="441831" cy="441831"/>
          </a:xfrm>
          <a:custGeom>
            <a:avLst/>
            <a:gdLst/>
            <a:ahLst/>
            <a:cxnLst/>
            <a:rect r="r" b="b" t="t" l="l"/>
            <a:pathLst>
              <a:path h="441831" w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986465" y="0"/>
            <a:ext cx="4378150" cy="10287000"/>
            <a:chOff x="0" y="0"/>
            <a:chExt cx="678290" cy="1593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8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78290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0"/>
              <a:stretch>
                <a:fillRect l="-16964" t="0" r="-16964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4650619" y="4444233"/>
            <a:ext cx="2628148" cy="251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19"/>
              </a:lnSpc>
            </a:pPr>
            <a:r>
              <a:rPr lang="en-US" sz="1585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Dashboard provides comprehensive sales and profit analysis.</a:t>
            </a:r>
          </a:p>
          <a:p>
            <a:pPr algn="just" marL="0" indent="0" lvl="0">
              <a:lnSpc>
                <a:spcPts val="2219"/>
              </a:lnSpc>
            </a:pPr>
            <a:r>
              <a:rPr lang="en-US" sz="1585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Interactive filters improve decision-making for stakeholders.</a:t>
            </a:r>
          </a:p>
          <a:p>
            <a:pPr algn="just" marL="0" indent="0" lvl="0">
              <a:lnSpc>
                <a:spcPts val="2219"/>
              </a:lnSpc>
            </a:pPr>
            <a:r>
              <a:rPr lang="en-US" sz="1585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Helps stakeholders monitor business performance effectively.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8585" y="7324490"/>
            <a:ext cx="2891575" cy="37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5"/>
              </a:lnSpc>
            </a:pPr>
            <a:r>
              <a:rPr lang="en-US" sz="2425" spc="-9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Power BI Dashboard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8585" y="7992073"/>
            <a:ext cx="5248389" cy="37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5"/>
              </a:lnSpc>
            </a:pPr>
            <a:r>
              <a:rPr lang="en-US" sz="2425" spc="-9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Data Analyst Internship — Task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8585" y="8689199"/>
            <a:ext cx="4805157" cy="37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5"/>
              </a:lnSpc>
            </a:pPr>
            <a:r>
              <a:rPr lang="en-US" sz="2425" spc="-9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Sales Performance Dashboard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857250"/>
            <a:ext cx="6671890" cy="146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05"/>
              </a:lnSpc>
              <a:spcBef>
                <a:spcPct val="0"/>
              </a:spcBef>
            </a:pPr>
            <a:r>
              <a:rPr lang="en-US" b="true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278067"/>
            <a:ext cx="6671890" cy="257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631"/>
              </a:lnSpc>
            </a:pPr>
            <a:r>
              <a:rPr lang="en-US" sz="6766" spc="-433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Sales Performance</a:t>
            </a:r>
          </a:p>
          <a:p>
            <a:pPr algn="just" marL="0" indent="0" lvl="0">
              <a:lnSpc>
                <a:spcPts val="6631"/>
              </a:lnSpc>
            </a:pPr>
            <a:r>
              <a:rPr lang="en-US" sz="6766" spc="-433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Dashboard</a:t>
            </a:r>
          </a:p>
          <a:p>
            <a:pPr algn="just" marL="0" indent="0" lvl="0">
              <a:lnSpc>
                <a:spcPts val="6631"/>
              </a:lnSpc>
            </a:pPr>
            <a:r>
              <a:rPr lang="en-US" sz="6766" spc="-433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Summary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mv="urn:schemas-microsoft-com:mac:vml">
  <p:tag name="may_ignore_ucw" val="true"/>
  <p:tag name="ppt/slides/slide1.xml" val="1202568709"/>
  <p:tag name="ppt/slides/slide2.xml" val="1174709913"/>
  <p:tag name="ppt/media/image1.png" val="902217819"/>
  <p:tag name="ppt/media/image2.svg" val="3417790906"/>
  <p:tag name="ppt/media/image3.png" val="1409678535"/>
  <p:tag name="ppt/media/image4.png" val="1945066017"/>
  <p:tag name="ppt/media/image5.svg" val="3950133980"/>
  <p:tag name="ppt/media/image6.png" val="1217510759"/>
  <p:tag name="ppt/media/image7.svg" val="232222420"/>
  <p:tag name="ppt/media/image8.png" val="1364259398"/>
  <p:tag name="ppt/media/image9.svg" val="306115676"/>
  <p:tag name="ppt/media/image10.png" val="3646567535"/>
  <p:tag name="ppt/media/image11.svg" val="1083743274"/>
  <p:tag name="ppt/media/image12.png" val="969845542"/>
  <p:tag name="ppt/media/image13.svg" val="2943817831"/>
  <p:tag name="ppt/media/image14.png" val="3945547290"/>
  <p:tag name="ppt/slideLayouts/slideLayout1.xml" val="570340096"/>
  <p:tag name="ppt/slideLayouts/slideLayout2.xml" val="2383022199"/>
  <p:tag name="ppt/slideLayouts/slideLayout3.xml" val="182607473"/>
  <p:tag name="ppt/slideLayouts/slideLayout4.xml" val="1946837309"/>
  <p:tag name="ppt/slideLayouts/slideLayout5.xml" val="3836247968"/>
  <p:tag name="ppt/slideLayouts/slideLayout6.xml" val="2596273127"/>
  <p:tag name="ppt/slideLayouts/slideLayout7.xml" val="3175146494"/>
  <p:tag name="ppt/slideLayouts/slideLayout8.xml" val="3756007313"/>
  <p:tag name="ppt/slideLayouts/slideLayout9.xml" val="742714069"/>
  <p:tag name="ppt/slideLayouts/slideLayout10.xml" val="3489222304"/>
  <p:tag name="ppt/slideLayouts/slideLayout11.xml" val="2539766215"/>
  <p:tag name="ppt/slideMasters/slideMaster1.xml" val="1854975728"/>
  <p:tag name="ppt/slides/slide3.xml" val="607624057"/>
  <p:tag name="ppt/slides/slide4.xml" val="3199746427"/>
  <p:tag name="ppt/theme/theme1.xml" val="195538180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